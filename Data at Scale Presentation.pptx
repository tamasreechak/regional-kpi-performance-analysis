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notesMasterIdLst>
    <p:notesMasterId r:id="rId13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895F7-2F62-42E1-9A4D-448C39DFB8C6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021C98-FD87-4AFF-81E8-EC588776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321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21C98-FD87-4AFF-81E8-EC588776CE8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837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21C98-FD87-4AFF-81E8-EC588776CE8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912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1AE2B-269E-E71A-D9A8-0E340B9E5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4A3E2-29B6-C9EB-D33E-826FF25C8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2FB57-EFA5-4317-B711-FD9901163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853E-60AB-939A-60B9-D7470875C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21C98-FD87-4AFF-81E8-EC588776CE8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008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AF77E-2A33-5FEB-FE68-C3D6B6189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381EC-77C8-FC8F-A34D-175357785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41901-B335-DE69-50C7-1A782E58E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B0DFF-2302-C36B-34C7-C24DC7C84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21C98-FD87-4AFF-81E8-EC588776CE8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2522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65909-3849-B432-3F65-7CE7AE6C1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8F8DDA-CA0E-2C2C-7026-5819D7ED0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C61F27-1D8B-9212-70F4-C76A83E87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E121C-E424-03A6-A02C-598201E53D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21C98-FD87-4AFF-81E8-EC588776CE8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505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CBC83-5762-7142-A283-FC897682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B5D22-2F8C-185B-6FAD-78F966463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8C75C-5843-683F-23AC-C5119A5E7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B155C-E306-B503-1EF2-3FCAF538EB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21C98-FD87-4AFF-81E8-EC588776CE8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021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54BEC-54E9-5919-976A-ECB0C5E3B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CF9A8-6E60-5062-97CF-A5EE97A92C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6C5F2-CF69-6C32-099B-DFC0EA75A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3F800-E199-D15A-EB1F-979255183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21C98-FD87-4AFF-81E8-EC588776CE8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350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7F46-4E4F-342E-5B77-70D6336AE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40D7A-3E6C-224F-5070-87CEEAD30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AB8994-E065-CB2F-A4DD-31368C04C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5E4FD-720A-43A1-6F89-AD76E2F2A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21C98-FD87-4AFF-81E8-EC588776CE8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490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DAA8C-D3B3-5D17-3D15-EF0BCDEEF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8BC95-1E1B-DF5B-00DA-8240948B7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8C7EF0-F18C-2D2F-EB9D-E7250FC53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E52EA-F7A8-997C-F21E-3AAB7F057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21C98-FD87-4AFF-81E8-EC588776CE8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077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B873D-23E0-9714-5961-ED56FE7FB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E27C61-0F66-0E3B-A081-EBB2204DF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5B517-B7EB-BB08-ED76-425E9F9DF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BE969-32DF-A0BE-3C66-CC531B5DA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21C98-FD87-4AFF-81E8-EC588776CE8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446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0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52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866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64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073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208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07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47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425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91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339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gnifying glass showing decling performance">
            <a:extLst>
              <a:ext uri="{FF2B5EF4-FFF2-40B4-BE49-F238E27FC236}">
                <a16:creationId xmlns:a16="http://schemas.microsoft.com/office/drawing/2014/main" id="{C15C3017-C3FA-6D11-E2F6-CC451F9198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20" b="14510"/>
          <a:stretch/>
        </p:blipFill>
        <p:spPr>
          <a:xfrm>
            <a:off x="0" y="10"/>
            <a:ext cx="12191981" cy="68579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B852C-406C-1BBE-B613-E87EF6B31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0270" y="1415142"/>
            <a:ext cx="6940730" cy="1674934"/>
          </a:xfrm>
        </p:spPr>
        <p:txBody>
          <a:bodyPr>
            <a:normAutofit/>
          </a:bodyPr>
          <a:lstStyle/>
          <a:p>
            <a:r>
              <a:rPr lang="en-US" sz="28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FoodCorp</a:t>
            </a:r>
            <a:r>
              <a:rPr lang="en-US" sz="28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Regional Performance Analysis for Marketing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8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nvestment</a:t>
            </a:r>
            <a:br>
              <a:rPr lang="en-US" sz="2500" b="1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-apple-system"/>
              </a:rPr>
            </a:br>
            <a:endParaRPr lang="en-IN" sz="25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DA96A-86AF-78C2-9483-1E4E15504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439" y="5708536"/>
            <a:ext cx="3152018" cy="1029722"/>
          </a:xfrm>
        </p:spPr>
        <p:txBody>
          <a:bodyPr anchor="t">
            <a:normAutofit fontScale="85000" lnSpcReduction="20000"/>
          </a:bodyPr>
          <a:lstStyle/>
          <a:p>
            <a:pPr algn="l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Submitted by </a:t>
            </a:r>
          </a:p>
          <a:p>
            <a:pPr algn="l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Tamasree Chakraborty</a:t>
            </a:r>
          </a:p>
          <a:p>
            <a:pPr algn="l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ID - 20644459</a:t>
            </a:r>
          </a:p>
        </p:txBody>
      </p:sp>
    </p:spTree>
    <p:extLst>
      <p:ext uri="{BB962C8B-B14F-4D97-AF65-F5344CB8AC3E}">
        <p14:creationId xmlns:p14="http://schemas.microsoft.com/office/powerpoint/2010/main" val="33888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8C2E3-E8E4-B98A-912B-D5658218B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4B03DE-210E-837E-9477-C047913EF4C2}"/>
              </a:ext>
            </a:extLst>
          </p:cNvPr>
          <p:cNvSpPr/>
          <p:nvPr/>
        </p:nvSpPr>
        <p:spPr>
          <a:xfrm>
            <a:off x="522515" y="1929384"/>
            <a:ext cx="11169612" cy="455850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lnSpcReduction="10000"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000" b="1" dirty="0">
              <a:solidFill>
                <a:schemeClr val="tx1"/>
              </a:solidFill>
            </a:endParaRPr>
          </a:p>
          <a:p>
            <a:pPr marL="342900" indent="-228600" defTabSz="914400">
              <a:lnSpc>
                <a:spcPct val="9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Summary : </a:t>
            </a:r>
            <a:b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report presents a detailed analysis of </a:t>
            </a:r>
            <a:r>
              <a:rPr lang="en-US" sz="14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FoodCorp's</a:t>
            </a: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regional store performance to support the management in identifying the most promising store for increased marketing investment. </a:t>
            </a:r>
            <a:r>
              <a:rPr lang="en-US" sz="14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FoodCorp</a:t>
            </a: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 growing company with four stores across London, Birmingham, and Nottingham, seeks to determine which store offers the best growth opportunities for increased marketing investment. This analysis evaluates 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performance, customer behavior, product trends, store performance.</a:t>
            </a:r>
            <a:b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Visualizing and analyzing different metrics will help us to make a business decision. Using these insights, the report identifies growth opportunities and provides actionable recommendations to optimize marketing and distribution strategies based on key performance indicators (KPIs). </a:t>
            </a:r>
            <a:b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4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&amp; Preparation Steps:</a:t>
            </a:r>
            <a:b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Firstly, The data was cleaned and pre-processed to ensure accuracy and consistency for analysis. When analyzing data for a business like </a:t>
            </a:r>
            <a:r>
              <a:rPr lang="en-US" sz="14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FoodCorp</a:t>
            </a: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it is needed to organize the data in a way that facilitates efficient querying, insightful analysis, and intuitive reporting. This is achieved by designing a data warehouse schema using fact and dimension tables.</a:t>
            </a:r>
            <a:b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In the ‘</a:t>
            </a:r>
            <a:r>
              <a:rPr lang="en-US" sz="14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stores_dim</a:t>
            </a: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 created as dimension table, A new column called ‘Store Location’ was added to uniquely identify store names. It will replace the store codes with combination of city and first-part of postal code like ‘London EC3V’ to easily identify and analyze the dataset  for each stores / region .</a:t>
            </a:r>
            <a:b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228600" defTabSz="914400">
              <a:lnSpc>
                <a:spcPct val="9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KPIs :</a:t>
            </a:r>
            <a:br>
              <a: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effectively compare the three regions (London, Birmingham, and Nottingham), we will define Key Performance Indicators (KPIs) that capture both point-in-time performance and trends over time. These KPIs are divided into store performance, customer behavior, and trends.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charts for each KPIs are discussed in next slides. </a:t>
            </a:r>
            <a:br>
              <a:rPr lang="en-US" sz="1000" i="0" dirty="0">
                <a:solidFill>
                  <a:schemeClr val="tx1"/>
                </a:solidFill>
                <a:effectLst/>
              </a:rPr>
            </a:br>
            <a:endParaRPr lang="en-US" sz="10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endParaRPr lang="en-US" sz="1000" dirty="0">
              <a:solidFill>
                <a:schemeClr val="tx1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009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856AA7-5EB0-D459-67B8-A6A7574DA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D6D03B-ACB2-B227-BB7F-2BB6141C508A}"/>
              </a:ext>
            </a:extLst>
          </p:cNvPr>
          <p:cNvSpPr/>
          <p:nvPr/>
        </p:nvSpPr>
        <p:spPr>
          <a:xfrm>
            <a:off x="572494" y="1926771"/>
            <a:ext cx="5732054" cy="43830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fontScale="77500" lnSpcReduction="2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b="1" i="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Sales Performance Metrics –</a:t>
            </a:r>
            <a:br>
              <a:rPr lang="en-US" sz="15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5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5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1: </a:t>
            </a:r>
            <a:r>
              <a:rPr lang="en-US" sz="15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for Each Stores Per Quarter</a:t>
            </a:r>
            <a:br>
              <a:rPr lang="en-US" sz="15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5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Purpose :</a:t>
            </a:r>
            <a:r>
              <a:rPr lang="en-US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made by Customers in each store for a given period.</a:t>
            </a:r>
            <a:br>
              <a:rPr lang="en-US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Formula: </a:t>
            </a:r>
            <a:r>
              <a:rPr lang="en-US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 of Value , Group By &amp; Order By -store location, year &amp; Quarter</a:t>
            </a:r>
            <a:br>
              <a:rPr lang="en-US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Insights: </a:t>
            </a:r>
            <a:br>
              <a:rPr lang="en-US" sz="15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London EC3V Dominates: </a:t>
            </a:r>
            <a:r>
              <a:rPr lang="en-US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London EC3V consistently outperforms other locations in total quarterly sales across all years. Particularly strong in Q1 and Q2 of 2021 and 2022, indicating a stable customer base and strong demand.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sz="15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5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London SW1's Moderate Performance: </a:t>
            </a:r>
            <a:r>
              <a:rPr lang="en-US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London SW1 shows a steady contribution but lags behind London EC3V.</a:t>
            </a:r>
            <a:br>
              <a:rPr lang="en-US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Nottingham NG1:</a:t>
            </a:r>
            <a:r>
              <a:rPr lang="en-US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Nottingham NG1 has a fluctuating performance, with a significant sales drop in 2021 compared to 2020.The recovery in 2022 indicates potential for growth with the right strategies.</a:t>
            </a:r>
            <a:br>
              <a:rPr lang="en-US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Birmingham B1's Underperformance:</a:t>
            </a:r>
            <a:r>
              <a:rPr lang="en-US" sz="15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Birmingham B1 records the lowest sales across all quarters and years. Consistently lower than other stores, indicating challenges in market penetration or customer retention.</a:t>
            </a:r>
            <a:br>
              <a:rPr lang="en-US" sz="15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700" i="0" dirty="0">
                <a:solidFill>
                  <a:schemeClr val="tx1"/>
                </a:solidFill>
                <a:effectLst/>
              </a:rPr>
            </a:br>
            <a:endParaRPr lang="en-US" sz="700" dirty="0">
              <a:solidFill>
                <a:schemeClr val="tx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700" dirty="0">
              <a:solidFill>
                <a:schemeClr val="tx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700" dirty="0">
              <a:solidFill>
                <a:schemeClr val="tx1"/>
              </a:solidFill>
            </a:endParaRPr>
          </a:p>
        </p:txBody>
      </p:sp>
      <p:pic>
        <p:nvPicPr>
          <p:cNvPr id="5" name="Picture 4" descr="A graph of sales per quarter for each store&#10;&#10;Description automatically generated">
            <a:extLst>
              <a:ext uri="{FF2B5EF4-FFF2-40B4-BE49-F238E27FC236}">
                <a16:creationId xmlns:a16="http://schemas.microsoft.com/office/drawing/2014/main" id="{010907A5-0891-832A-42BB-4BB5D4E08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557" y="1926771"/>
            <a:ext cx="4238677" cy="43464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051665-DA25-E349-6CBD-A7746621205A}"/>
              </a:ext>
            </a:extLst>
          </p:cNvPr>
          <p:cNvSpPr txBox="1"/>
          <p:nvPr/>
        </p:nvSpPr>
        <p:spPr>
          <a:xfrm>
            <a:off x="6612557" y="6315493"/>
            <a:ext cx="4238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1 :Total Sales Per Quarter for Each Store</a:t>
            </a: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180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6CC56-B4C1-97C4-DE8D-1C7E83696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448783B-5E9A-11AB-F71A-D71A37AFC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505128A7-0C14-E975-50F7-A95BD9100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02F7A8-1257-3F79-F107-46D0587A96E6}"/>
              </a:ext>
            </a:extLst>
          </p:cNvPr>
          <p:cNvSpPr/>
          <p:nvPr/>
        </p:nvSpPr>
        <p:spPr>
          <a:xfrm>
            <a:off x="572492" y="1785257"/>
            <a:ext cx="6187537" cy="45428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Autofit/>
          </a:bodyPr>
          <a:lstStyle/>
          <a:p>
            <a:pPr>
              <a:spcAft>
                <a:spcPts val="800"/>
              </a:spcAft>
            </a:pP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i="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Sales Performance Metrics –</a:t>
            </a: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2: Sales Rate Per Day of Week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Purpose: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Proportion of sales acquired by each store location in a weekday.</a:t>
            </a:r>
          </a:p>
          <a:p>
            <a:pPr lvl="0"/>
            <a:r>
              <a:rPr lang="en-IN" sz="12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Formula: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Sum of Value (Total Daily Sales)/ sum of Total sales across the store.</a:t>
            </a:r>
            <a:b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:</a:t>
            </a:r>
            <a:b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200" b="1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107000"/>
              </a:lnSpc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Birmingham B1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:Sunday has the highest proportion of sales (28.31%), followed by Tuesday (27.04%).Saturday shows the lowest sales proportion (21.01%), indicating reduced customer activity on weekends compared to weekdays.</a:t>
            </a:r>
          </a:p>
          <a:p>
            <a:pPr marL="228600" algn="just">
              <a:lnSpc>
                <a:spcPct val="107000"/>
              </a:lnSpc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lvl="0" algn="just">
              <a:lnSpc>
                <a:spcPct val="107000"/>
              </a:lnSpc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London EC3V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Sales are more evenly distributed across the week, with a slight peak on Thursday (26.45%).  Sunday (23.37%) has the lowest sales proportion, suggesting reduced activity.</a:t>
            </a:r>
          </a:p>
          <a:p>
            <a:pPr marL="457200">
              <a:lnSpc>
                <a:spcPct val="107000"/>
              </a:lnSpc>
            </a:pP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>
              <a:lnSpc>
                <a:spcPct val="107000"/>
              </a:lnSpc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London SW1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Saturday (29.79%) shows the highest proportion of sales, unlike other locations, which suggests stronger weekend performance. Weekdays, especially Wednesday (23.41%), have relatively lower sales proportions.</a:t>
            </a:r>
          </a:p>
          <a:p>
            <a:pPr marL="228600" algn="just">
              <a:lnSpc>
                <a:spcPct val="107000"/>
              </a:lnSpc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Nottingham NG1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Friday (26.89%) has the highest sales proportion, followed closely by Thursday (26.55%). Sunday (22.12%) has the lowest sales proportion, indicating reduced activity at the start of the week.</a:t>
            </a: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200" i="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915A240-81B4-311B-7122-082C2394C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7322" y="1785256"/>
            <a:ext cx="4891022" cy="44522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AD34DB-F2A3-9550-B6EF-FF874A3AB601}"/>
              </a:ext>
            </a:extLst>
          </p:cNvPr>
          <p:cNvSpPr txBox="1"/>
          <p:nvPr/>
        </p:nvSpPr>
        <p:spPr>
          <a:xfrm>
            <a:off x="6760029" y="6237513"/>
            <a:ext cx="48910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IN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2: Proportion Sales for each store per weekdays.</a:t>
            </a:r>
          </a:p>
        </p:txBody>
      </p:sp>
    </p:spTree>
    <p:extLst>
      <p:ext uri="{BB962C8B-B14F-4D97-AF65-F5344CB8AC3E}">
        <p14:creationId xmlns:p14="http://schemas.microsoft.com/office/powerpoint/2010/main" val="654406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B1C37B-477A-F0C9-3ED7-879195DFE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A521DD2-1501-9B25-BC48-1ACD8F08C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4EE70ADE-C2BA-CE1D-44A9-305432FF2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2FC340-1B7F-58DE-DB4F-EF302981C96E}"/>
              </a:ext>
            </a:extLst>
          </p:cNvPr>
          <p:cNvSpPr/>
          <p:nvPr/>
        </p:nvSpPr>
        <p:spPr>
          <a:xfrm>
            <a:off x="572494" y="1785257"/>
            <a:ext cx="6056906" cy="45428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Customer Behavior</a:t>
            </a:r>
            <a:r>
              <a:rPr lang="en-US" sz="1400" b="1" i="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Metrics –</a:t>
            </a: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3 :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Customers/ First Time Buyers.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 to calculate new customers per quarter in each store.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Formula:  Min Purchased at per quarter to calculate new customers, count of customer id.</a:t>
            </a:r>
            <a:b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800"/>
              </a:spcAft>
            </a:pPr>
            <a:r>
              <a:rPr lang="en-IN" sz="12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Insights :</a:t>
            </a:r>
            <a:b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200" b="1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 algn="just">
              <a:lnSpc>
                <a:spcPct val="107000"/>
              </a:lnSpc>
              <a:buSzPts val="1000"/>
              <a:buFont typeface="+mj-lt"/>
              <a:buAutoNum type="arabicPeriod"/>
              <a:tabLst>
                <a:tab pos="228600" algn="l"/>
              </a:tabLs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2020 Peak: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highest customer acquisition occurred in Q3 2020, with Birmingham B1 and London EC3V contributing significantly.</a:t>
            </a:r>
          </a:p>
          <a:p>
            <a:pPr marL="228600" lvl="0" indent="-228600" algn="just">
              <a:lnSpc>
                <a:spcPct val="107000"/>
              </a:lnSpc>
              <a:buSzPts val="1000"/>
              <a:buFont typeface="+mj-lt"/>
              <a:buAutoNum type="arabicPeriod"/>
              <a:tabLst>
                <a:tab pos="228600" algn="l"/>
              </a:tabLs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Decline Over Time: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There is a steady decline in customer acquisition from 2020 to 2022, across all locations.</a:t>
            </a:r>
          </a:p>
          <a:p>
            <a:pPr marL="228600" lvl="0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228600" algn="l"/>
              </a:tabLs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 Performance: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Despite the decline, London EC3V shows relatively consistent acquisition numbers compared to other locations.</a:t>
            </a:r>
          </a:p>
          <a:p>
            <a:pPr lvl="0">
              <a:lnSpc>
                <a:spcPct val="107000"/>
              </a:lnSpc>
            </a:pP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200" i="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A graph with numbers and a bar&#10;&#10;Description automatically generated with medium confidence">
            <a:extLst>
              <a:ext uri="{FF2B5EF4-FFF2-40B4-BE49-F238E27FC236}">
                <a16:creationId xmlns:a16="http://schemas.microsoft.com/office/drawing/2014/main" id="{FF51C350-9876-482E-5748-34FB48C07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087" y="1894985"/>
            <a:ext cx="4832056" cy="44330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7C269A-F93B-BA5A-2060-BFE2C84D4A15}"/>
              </a:ext>
            </a:extLst>
          </p:cNvPr>
          <p:cNvSpPr txBox="1"/>
          <p:nvPr/>
        </p:nvSpPr>
        <p:spPr>
          <a:xfrm>
            <a:off x="7094482" y="6416565"/>
            <a:ext cx="46035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3 : Customer Acquisition Trend Over Time</a:t>
            </a: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077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876BD-558E-5EB5-013E-E5A49FDF7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7CD8939-B037-24E3-CAAE-5B70447E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61EE90A3-D572-43D8-B353-A4FB2EC3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88DD0C-4E27-AB52-1377-104DD444013A}"/>
              </a:ext>
            </a:extLst>
          </p:cNvPr>
          <p:cNvSpPr/>
          <p:nvPr/>
        </p:nvSpPr>
        <p:spPr>
          <a:xfrm>
            <a:off x="572494" y="1785257"/>
            <a:ext cx="5221754" cy="45428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en-US" sz="1200" i="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Customer Behavior</a:t>
            </a:r>
            <a:r>
              <a:rPr lang="en-US" sz="1400" b="1" i="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Metrics –</a:t>
            </a: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4: Customer Lifetime Value (CLV)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Purpose: Quantifies customer value over their relationship with the store.</a:t>
            </a:r>
          </a:p>
          <a:p>
            <a:r>
              <a:rPr lang="en-IN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Formula:  Average total revenue per customer per quarter, per store within their respective first and last purchase date</a:t>
            </a:r>
            <a:b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800"/>
              </a:spcAft>
            </a:pPr>
            <a:r>
              <a:rPr lang="en-IN" sz="12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Insights :</a:t>
            </a:r>
            <a:b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200" b="1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CLV: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London EC3V leads with the highest average CLV at 182.2, indicating a highly valuable customer base.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Lowest CLV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Birmingham B1 has the lowest CLV at 69.5, reflecting less customer profitability.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Mid-performing Locations: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Nottingham NG1 (158.4) and London SW1 (109.4) have moderate CLV values, with Nottingham significantly outperforming London SW1.</a:t>
            </a:r>
          </a:p>
          <a:p>
            <a:pPr lvl="0">
              <a:lnSpc>
                <a:spcPct val="107000"/>
              </a:lnSpc>
            </a:pP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200" i="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897318-7F55-946F-B5B6-C969B35D4F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931" y="1916697"/>
            <a:ext cx="5607338" cy="37212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D1EFAA-3F54-66DC-063A-FF690982F76B}"/>
              </a:ext>
            </a:extLst>
          </p:cNvPr>
          <p:cNvSpPr txBox="1"/>
          <p:nvPr/>
        </p:nvSpPr>
        <p:spPr>
          <a:xfrm>
            <a:off x="6274676" y="5786329"/>
            <a:ext cx="55205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4 : Customer Lifetime Value Trend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5617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C946E9-2614-814E-FC0F-29F3003F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5627B8B-F9F0-FC3B-2B6B-F5953E03D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83434E92-325B-961E-516A-1FF096556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6BC00F-4A91-1E25-2381-556CE3E2DC74}"/>
              </a:ext>
            </a:extLst>
          </p:cNvPr>
          <p:cNvSpPr/>
          <p:nvPr/>
        </p:nvSpPr>
        <p:spPr>
          <a:xfrm>
            <a:off x="572493" y="1785257"/>
            <a:ext cx="5795649" cy="45428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Customer Behavior</a:t>
            </a:r>
            <a:r>
              <a:rPr lang="en-US" sz="1400" b="1" i="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Metrics –</a:t>
            </a: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5: Cohort Retention Analysis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107000"/>
              </a:lnSpc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 It tracks how well the business retains its customer base per cohort, per store.</a:t>
            </a:r>
          </a:p>
          <a:p>
            <a:pPr lvl="0">
              <a:lnSpc>
                <a:spcPct val="107000"/>
              </a:lnSpc>
            </a:pPr>
            <a:r>
              <a:rPr lang="en-IN" sz="12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Formula:  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(retained customer base/cohort size)*100, per store, per quarter.</a:t>
            </a:r>
            <a:b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Insights :</a:t>
            </a:r>
            <a:b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2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 Retention (Quarter 0)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Each cohort starts with a 100% retention rate in the first quarter (since it includes all the customers who made a purchase in that cohort).</a:t>
            </a:r>
          </a:p>
          <a:p>
            <a:pPr lvl="0" algn="just">
              <a:lnSpc>
                <a:spcPct val="107000"/>
              </a:lnSpc>
              <a:tabLst>
                <a:tab pos="228600" algn="l"/>
              </a:tabLst>
            </a:pP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>
              <a:lnSpc>
                <a:spcPct val="107000"/>
              </a:lnSpc>
              <a:tabLst>
                <a:tab pos="228600" algn="l"/>
              </a:tabLs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2.Retention Over Time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Retention rates tend to decline over subsequent quarters, indicating customer churn. Some cohorts stabilize with certain retention levels, reflecting a loyal customer base that continues to make purchases.</a:t>
            </a:r>
            <a:b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  <a:tabLst>
                <a:tab pos="228600" algn="l"/>
              </a:tabLs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3.Store Location Performance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  <a:tabLst>
                <a:tab pos="228600" algn="l"/>
              </a:tabLst>
            </a:pPr>
            <a:r>
              <a:rPr lang="en-IN" sz="12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Birmingham B1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shows relatively lower long-term retention compared to other locations.</a:t>
            </a:r>
            <a:b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b)Nottingham NG1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higher initial retention rates across most cohorts, maintaining better performance in later quarters.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  <a:tabLst>
                <a:tab pos="228600" algn="l"/>
              </a:tabLs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Retention Patterns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 some cohorts, retention drops sharply in the first few quarters but stabilizes later (e.g., 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London SW1, 2020 Q4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cohort). Certain cohorts demonstrate seasonal behaviour, where retention improves in specific quarters.</a:t>
            </a:r>
          </a:p>
          <a:p>
            <a:pPr lvl="0">
              <a:lnSpc>
                <a:spcPct val="107000"/>
              </a:lnSpc>
            </a:pP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200" i="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A screenshot of a chart&#10;&#10;Description automatically generated">
            <a:extLst>
              <a:ext uri="{FF2B5EF4-FFF2-40B4-BE49-F238E27FC236}">
                <a16:creationId xmlns:a16="http://schemas.microsoft.com/office/drawing/2014/main" id="{0F4D2380-635F-420B-77BA-09DA34DF56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601" y="1840120"/>
            <a:ext cx="5335521" cy="44879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B3F452-8D99-F910-CD11-345C0739F2AD}"/>
              </a:ext>
            </a:extLst>
          </p:cNvPr>
          <p:cNvSpPr txBox="1"/>
          <p:nvPr/>
        </p:nvSpPr>
        <p:spPr>
          <a:xfrm>
            <a:off x="6531600" y="6408375"/>
            <a:ext cx="53355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IN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5: Cohort Customer Retention Per Store</a:t>
            </a:r>
          </a:p>
        </p:txBody>
      </p:sp>
    </p:spTree>
    <p:extLst>
      <p:ext uri="{BB962C8B-B14F-4D97-AF65-F5344CB8AC3E}">
        <p14:creationId xmlns:p14="http://schemas.microsoft.com/office/powerpoint/2010/main" val="699219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5B5A77-54EC-6584-C182-F110FC47D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6D1764-8CB6-2A01-6D25-C8B7E645C5D5}"/>
              </a:ext>
            </a:extLst>
          </p:cNvPr>
          <p:cNvSpPr/>
          <p:nvPr/>
        </p:nvSpPr>
        <p:spPr>
          <a:xfrm>
            <a:off x="192451" y="384879"/>
            <a:ext cx="4369924" cy="18476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800"/>
              </a:spcAft>
            </a:pPr>
            <a:br>
              <a:rPr lang="en-US" sz="600" i="0" dirty="0">
                <a:solidFill>
                  <a:schemeClr val="tx1"/>
                </a:solidFill>
                <a:effectLst/>
              </a:rPr>
            </a:br>
            <a:r>
              <a:rPr lang="en-US" sz="1400" b="1" i="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Product Performance</a:t>
            </a:r>
            <a:r>
              <a:rPr lang="en-US" sz="1400" b="1" i="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Metrics –</a:t>
            </a:r>
            <a:br>
              <a:rPr lang="en-US" sz="13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3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6: Top Five Selling Department.</a:t>
            </a:r>
          </a:p>
          <a:p>
            <a:pPr defTabSz="914400">
              <a:lnSpc>
                <a:spcPct val="90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Purpose:</a:t>
            </a:r>
            <a:r>
              <a:rPr lang="en-US" sz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identifies which department made most of the sales revenue.</a:t>
            </a:r>
          </a:p>
          <a:p>
            <a:pPr defTabSz="914400">
              <a:lnSpc>
                <a:spcPct val="90000"/>
              </a:lnSpc>
              <a:spcAft>
                <a:spcPts val="800"/>
              </a:spcAft>
            </a:pPr>
            <a:r>
              <a:rPr lang="en-US" sz="12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b)Formula:</a:t>
            </a:r>
            <a:r>
              <a:rPr lang="en-US" sz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Total sales value per department  per quarter.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lvl="0" defTabSz="914400">
              <a:lnSpc>
                <a:spcPct val="90000"/>
              </a:lnSpc>
              <a:spcAft>
                <a:spcPts val="800"/>
              </a:spcAft>
            </a:pPr>
            <a:br>
              <a:rPr lang="en-US" sz="600" b="1" dirty="0">
                <a:solidFill>
                  <a:schemeClr val="tx1"/>
                </a:solidFill>
              </a:rPr>
            </a:br>
            <a:endParaRPr lang="en-US" sz="600" i="0" dirty="0">
              <a:solidFill>
                <a:schemeClr val="tx1"/>
              </a:solidFill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600" dirty="0">
              <a:solidFill>
                <a:schemeClr val="tx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600" dirty="0">
              <a:solidFill>
                <a:schemeClr val="tx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600" dirty="0">
              <a:solidFill>
                <a:schemeClr val="tx1"/>
              </a:solidFill>
            </a:endParaRP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25E7808A-4231-DA40-5A1A-A586D5FCA6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253" y="375801"/>
            <a:ext cx="6889696" cy="36244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901C59-72CA-AC78-7B47-84152C56C2C2}"/>
              </a:ext>
            </a:extLst>
          </p:cNvPr>
          <p:cNvSpPr txBox="1"/>
          <p:nvPr/>
        </p:nvSpPr>
        <p:spPr>
          <a:xfrm>
            <a:off x="192450" y="2809500"/>
            <a:ext cx="4785803" cy="3749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228600" algn="l"/>
                <a:tab pos="457200" algn="l"/>
              </a:tabLs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c) Insights :</a:t>
            </a:r>
            <a:br>
              <a:rPr lang="en-IN" sz="11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sz="11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1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1.High-Performing Departments</a:t>
            </a:r>
            <a:r>
              <a:rPr lang="en-IN" sz="11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en-IN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lang="en-IN" sz="11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London EC3V</a:t>
            </a:r>
            <a:r>
              <a:rPr lang="en-IN" sz="11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Dominates in "Grocery 1" and "Provision" departments consistently across quarters. Also performs well in "Fruit &amp; Vegetables" and "Meat &amp; Poultry" categories.</a:t>
            </a:r>
            <a:br>
              <a:rPr lang="en-IN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ii) </a:t>
            </a:r>
            <a:r>
              <a:rPr lang="en-IN" sz="11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Nottingham NG1</a:t>
            </a:r>
            <a:r>
              <a:rPr lang="en-IN" sz="11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Strong revenue from "Grocery 1" and "Provision" departments. "Fruit &amp; Vegetables" consistently contribute significantly.</a:t>
            </a:r>
            <a:br>
              <a:rPr lang="en-IN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iii) </a:t>
            </a:r>
            <a:r>
              <a:rPr lang="en-IN" sz="11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Birmingham B1</a:t>
            </a:r>
            <a:r>
              <a:rPr lang="en-IN" sz="11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Limited performance across departments, with sporadic sales in "Meat &amp; Poultry" and "Provision.“</a:t>
            </a:r>
            <a:br>
              <a:rPr lang="en-IN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iv) </a:t>
            </a:r>
            <a:r>
              <a:rPr lang="en-IN" sz="11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London SW1</a:t>
            </a:r>
            <a:r>
              <a:rPr lang="en-IN" sz="11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 Moderate performance in "Grocery 1," "Fruit &amp; Vegetables," and "Provision". Sales vary significantly by department and quarter.</a:t>
            </a:r>
            <a:endParaRPr lang="en-IN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228600" algn="l"/>
                <a:tab pos="457200" algn="l"/>
              </a:tabLst>
            </a:pPr>
            <a:r>
              <a:rPr lang="en-IN" sz="11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2.Underperforming Departments</a:t>
            </a:r>
            <a:r>
              <a:rPr lang="en-IN" sz="1100" b="1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en-IN" sz="1100" b="1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sz="1100" b="1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100" b="1" kern="100" dirty="0" err="1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100" b="1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lang="en-IN" sz="11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"Cigarettes" and "</a:t>
            </a:r>
            <a:r>
              <a:rPr lang="en-IN" sz="11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PayPoint</a:t>
            </a:r>
            <a:r>
              <a:rPr lang="en-IN" sz="11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 generate low revenue across all stores.</a:t>
            </a:r>
            <a:br>
              <a:rPr lang="en-IN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Ii</a:t>
            </a:r>
            <a:r>
              <a:rPr lang="en-IN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lang="en-IN" sz="11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Birmingham B1 consistently underperforms across all departments, particularly in "Grocery" and "Provision."</a:t>
            </a:r>
            <a:endParaRPr lang="en-IN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08940" algn="just">
              <a:lnSpc>
                <a:spcPct val="107000"/>
              </a:lnSpc>
              <a:spcAft>
                <a:spcPts val="800"/>
              </a:spcAft>
            </a:pPr>
            <a:r>
              <a:rPr lang="en-IN" sz="11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N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381CD7-583C-9700-B6DC-C1E66353F0A1}"/>
              </a:ext>
            </a:extLst>
          </p:cNvPr>
          <p:cNvSpPr txBox="1"/>
          <p:nvPr/>
        </p:nvSpPr>
        <p:spPr>
          <a:xfrm>
            <a:off x="5313145" y="4437246"/>
            <a:ext cx="6554804" cy="731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tabLst>
                <a:tab pos="228600" algn="l"/>
                <a:tab pos="457200" algn="l"/>
              </a:tabLst>
            </a:pPr>
            <a:r>
              <a:rPr lang="en-IN" sz="11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Seasonal Trends</a:t>
            </a:r>
            <a:r>
              <a:rPr lang="en-IN" sz="11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IN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07000"/>
              </a:lnSpc>
              <a:spcAft>
                <a:spcPts val="800"/>
              </a:spcAft>
              <a:buAutoNum type="romanLcParenR"/>
              <a:tabLst>
                <a:tab pos="228600" algn="l"/>
                <a:tab pos="457200" algn="l"/>
              </a:tabLst>
            </a:pPr>
            <a:r>
              <a:rPr lang="en-IN" sz="11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"Fruit &amp; Vegetables" and “</a:t>
            </a:r>
            <a:r>
              <a:rPr lang="en-IN" sz="11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Provisions</a:t>
            </a:r>
            <a:r>
              <a:rPr lang="en-IN" sz="11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 show stable demand across quarters, likely reflecting consistent customer needs.</a:t>
            </a:r>
            <a:endParaRPr lang="en-IN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43EB74-97D1-2903-C1FD-4AF54886E9B2}"/>
              </a:ext>
            </a:extLst>
          </p:cNvPr>
          <p:cNvSpPr txBox="1"/>
          <p:nvPr/>
        </p:nvSpPr>
        <p:spPr>
          <a:xfrm>
            <a:off x="5145699" y="4037501"/>
            <a:ext cx="65548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6 : Top Five Selling Department of each store</a:t>
            </a:r>
          </a:p>
          <a:p>
            <a:pPr algn="ctr"/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174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305D3D-8E5C-B098-811D-EAE42A928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1E29830-D52E-9AF4-9D0D-E0600EB52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sketch line">
            <a:extLst>
              <a:ext uri="{FF2B5EF4-FFF2-40B4-BE49-F238E27FC236}">
                <a16:creationId xmlns:a16="http://schemas.microsoft.com/office/drawing/2014/main" id="{8FEEBB6D-6F76-5D91-2334-677242FD5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5ABB3D-083D-15F3-8270-FBC6C4A990C2}"/>
              </a:ext>
            </a:extLst>
          </p:cNvPr>
          <p:cNvSpPr/>
          <p:nvPr/>
        </p:nvSpPr>
        <p:spPr>
          <a:xfrm>
            <a:off x="192450" y="340392"/>
            <a:ext cx="4369924" cy="18476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 Store Performance</a:t>
            </a:r>
            <a:r>
              <a:rPr lang="en-US" sz="1200" b="1" i="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Metrics –</a:t>
            </a: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7: Store Performance Trend Over Time.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107000"/>
              </a:lnSpc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Purpose: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gives overall store performance per store location, per year-quarter. 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Formula: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Total quantity sold, total transactions, total revenue per quarter, per stores.</a:t>
            </a:r>
            <a:br>
              <a:rPr lang="en-US" sz="600" b="1" dirty="0">
                <a:solidFill>
                  <a:schemeClr val="tx1"/>
                </a:solidFill>
              </a:rPr>
            </a:br>
            <a:endParaRPr lang="en-US" sz="600" i="0" dirty="0">
              <a:solidFill>
                <a:schemeClr val="tx1"/>
              </a:solidFill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600" dirty="0">
              <a:solidFill>
                <a:schemeClr val="tx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600" dirty="0">
              <a:solidFill>
                <a:schemeClr val="tx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B0852-8353-EDD4-8411-17DEB9F5978C}"/>
              </a:ext>
            </a:extLst>
          </p:cNvPr>
          <p:cNvSpPr txBox="1"/>
          <p:nvPr/>
        </p:nvSpPr>
        <p:spPr>
          <a:xfrm>
            <a:off x="192450" y="2809500"/>
            <a:ext cx="4785803" cy="3366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c) Insights :</a:t>
            </a:r>
            <a:br>
              <a:rPr lang="en-IN" sz="11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sz="11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1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</a:t>
            </a:r>
            <a:r>
              <a:rPr lang="en-IN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Performer - London EC3V</a:t>
            </a:r>
            <a:r>
              <a: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Consistently generates the highest total revenue and total quantity sold across all quarters and years. The store's performance significantly outpaces others, especially in 2021 and 2022.</a:t>
            </a:r>
            <a:br>
              <a: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>
              <a:lnSpc>
                <a:spcPct val="107000"/>
              </a:lnSpc>
            </a:pPr>
            <a:r>
              <a:rPr lang="en-IN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2.Nottingham NG1's Steady Growth</a:t>
            </a:r>
            <a:r>
              <a: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Nottingham NG1 shows consistent performance with strong contributions to both total revenue and quantity sold. It ranked second across most quarters, suggesting a stable customer base.</a:t>
            </a:r>
          </a:p>
          <a:p>
            <a:pPr lvl="0" algn="just">
              <a:lnSpc>
                <a:spcPct val="107000"/>
              </a:lnSpc>
            </a:pPr>
            <a:br>
              <a:rPr lang="en-IN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3.London SW1's Variability</a:t>
            </a:r>
            <a:r>
              <a: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London SW1 has moderate but inconsistent performance, with revenue and sales fluctuating by quarter.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br>
              <a:rPr lang="en-IN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4.Birmingham B1's Underperformance</a:t>
            </a:r>
            <a:r>
              <a: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Records the lowest total revenue and quantity sold across all periods. A consistent struggle to compete with other stores in all quarters and years</a:t>
            </a:r>
            <a:r>
              <a:rPr lang="en-IN" sz="1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228600" algn="l"/>
                <a:tab pos="457200" algn="l"/>
              </a:tabLst>
            </a:pPr>
            <a:r>
              <a:rPr lang="en-IN" sz="11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IN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AFBB6E5E-2782-4C94-DF28-E98B54E43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764" y="717892"/>
            <a:ext cx="6718434" cy="49024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CEEF4B-24D4-C2E2-F9F5-779D41E0A62E}"/>
              </a:ext>
            </a:extLst>
          </p:cNvPr>
          <p:cNvSpPr txBox="1"/>
          <p:nvPr/>
        </p:nvSpPr>
        <p:spPr>
          <a:xfrm>
            <a:off x="6545317" y="5690011"/>
            <a:ext cx="34053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IN" sz="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7: Overall Store Performance Trend</a:t>
            </a:r>
          </a:p>
        </p:txBody>
      </p:sp>
    </p:spTree>
    <p:extLst>
      <p:ext uri="{BB962C8B-B14F-4D97-AF65-F5344CB8AC3E}">
        <p14:creationId xmlns:p14="http://schemas.microsoft.com/office/powerpoint/2010/main" val="2047285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9952FA-47DD-D076-5AFA-A36A245C4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1B84B1D-0974-6C84-93E7-EC1DCBEBA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4C34996F-8BAF-F2C5-F581-F9BBC701F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AB025E-3E49-8F63-A0EA-E33BF6921DD1}"/>
              </a:ext>
            </a:extLst>
          </p:cNvPr>
          <p:cNvSpPr/>
          <p:nvPr/>
        </p:nvSpPr>
        <p:spPr>
          <a:xfrm>
            <a:off x="572493" y="1785257"/>
            <a:ext cx="10332930" cy="45428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b="1" u="sng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Recommendations: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228600" algn="l"/>
                <a:tab pos="457200" algn="l"/>
              </a:tabLst>
            </a:pPr>
            <a:r>
              <a:rPr lang="en-IN" sz="12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Focus on High-Performing Stores:</a:t>
            </a:r>
            <a:b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London EC3V achieves the highest sales and revenue across all quarters consistently. This location should be prioritized for expansion or product experimentation.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228600" algn="l"/>
                <a:tab pos="457200" algn="l"/>
              </a:tabLst>
            </a:pPr>
            <a:r>
              <a:rPr lang="en-IN" sz="12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Improve Retention in Birmingham and Nottingham:</a:t>
            </a:r>
            <a:b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cohort analysis indicates lower customer retention rates in Birmingham B1 and Nottingham NG1 compared to other locations. Consider targeted retention strategies such as loyalty programs or personalized promotions.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228600" algn="l"/>
                <a:tab pos="457200" algn="l"/>
              </a:tabLst>
            </a:pPr>
            <a:r>
              <a:rPr lang="en-IN" sz="12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Focus on High-CLV Locations &amp; Revitalize Low-CLV Locations:</a:t>
            </a:r>
            <a:br>
              <a:rPr lang="en-IN" sz="12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 marketing and customer retention efforts in 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London EC3V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Nottingham NG1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as they demonstrate strong customer profitability. Investigate and address factors contributing to the low CLV in 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Birmingham B1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through customer satisfaction surveys or targeted promotions.</a:t>
            </a:r>
            <a:b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</a:t>
            </a:r>
            <a:r>
              <a:rPr lang="en-IN" sz="12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Underperforming Departments:</a:t>
            </a:r>
            <a:b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departments, such as 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Bakery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Cigarettes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have significantly lower revenue across most locations. Focus on improving product offerings or marketing for these departments.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228600" algn="l"/>
                <a:tab pos="457200" algn="l"/>
              </a:tabLst>
            </a:pPr>
            <a:r>
              <a:rPr lang="en-IN" sz="12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5.Improve Birmingham B1's Performance:</a:t>
            </a:r>
            <a:r>
              <a:rPr lang="en-IN" sz="12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 market research to identify customer preferences and address gaps in product offerings. Launch aggressive promotions for underperforming departments to drive sales.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228600" algn="l"/>
                <a:tab pos="457200" algn="l"/>
              </a:tabLst>
            </a:pPr>
            <a:r>
              <a:rPr lang="en-IN" sz="12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6.Seasonal Sales Optimization:</a:t>
            </a:r>
            <a:b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quarters which consistently show higher sales across most stores. ,use this trend to plan promotional campaigns and inventory stocking during these peak periods.</a:t>
            </a:r>
          </a:p>
          <a:p>
            <a:pPr lvl="0">
              <a:lnSpc>
                <a:spcPct val="107000"/>
              </a:lnSpc>
            </a:pPr>
            <a:br>
              <a:rPr lang="en-US" sz="8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8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800" i="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442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FD1D9-5072-6A67-2653-12855CFA3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8B8C467-CC65-A288-8398-D692554E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545DFECE-3173-9A3A-9E06-80D595BDA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1594BC-9AAF-8612-635C-DF887DC001FF}"/>
              </a:ext>
            </a:extLst>
          </p:cNvPr>
          <p:cNvSpPr/>
          <p:nvPr/>
        </p:nvSpPr>
        <p:spPr>
          <a:xfrm>
            <a:off x="692600" y="1862259"/>
            <a:ext cx="10332930" cy="45428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Autofit/>
          </a:bodyPr>
          <a:lstStyle/>
          <a:p>
            <a:pPr lvl="0" algn="ctr">
              <a:lnSpc>
                <a:spcPct val="107000"/>
              </a:lnSpc>
            </a:pPr>
            <a:br>
              <a:rPr lang="en-US" sz="20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 &amp; A</a:t>
            </a:r>
            <a:br>
              <a:rPr lang="en-US" sz="8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8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800" i="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439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944</TotalTime>
  <Words>1967</Words>
  <Application>Microsoft Office PowerPoint</Application>
  <PresentationFormat>Widescreen</PresentationFormat>
  <Paragraphs>95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-apple-system</vt:lpstr>
      <vt:lpstr>Aptos</vt:lpstr>
      <vt:lpstr>Aptos Display</vt:lpstr>
      <vt:lpstr>Arial</vt:lpstr>
      <vt:lpstr>Calibri</vt:lpstr>
      <vt:lpstr>Office Theme</vt:lpstr>
      <vt:lpstr>FoodCorp Regional Performance Analysis for Marketing Investment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Tamasree Chakraborty</dc:creator>
  <cp:lastModifiedBy>Tamasree Chakraborty</cp:lastModifiedBy>
  <cp:revision>7</cp:revision>
  <dcterms:created xsi:type="dcterms:W3CDTF">2025-01-08T22:55:46Z</dcterms:created>
  <dcterms:modified xsi:type="dcterms:W3CDTF">2025-01-11T15:56:31Z</dcterms:modified>
</cp:coreProperties>
</file>